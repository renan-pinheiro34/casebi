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Plus Jakarta Sans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Albert Sans"/>
      <p:regular r:id="rId28"/>
      <p:bold r:id="rId29"/>
      <p:italic r:id="rId30"/>
      <p:boldItalic r:id="rId31"/>
    </p:embeddedFont>
    <p:embeddedFont>
      <p:font typeface="Rubik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ECC0C7-4B2A-4415-8E23-A15063C48FF8}">
  <a:tblStyle styleId="{52ECC0C7-4B2A-4415-8E23-A15063C48F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A3C7FFE-0319-458E-B911-098FE203F7A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AlbertSans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lbert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bertSans-boldItalic.fntdata"/><Relationship Id="rId30" Type="http://schemas.openxmlformats.org/officeDocument/2006/relationships/font" Target="fonts/AlbertSans-italic.fntdata"/><Relationship Id="rId11" Type="http://schemas.openxmlformats.org/officeDocument/2006/relationships/slide" Target="slides/slide5.xml"/><Relationship Id="rId33" Type="http://schemas.openxmlformats.org/officeDocument/2006/relationships/font" Target="fonts/Rubik-bold.fntdata"/><Relationship Id="rId10" Type="http://schemas.openxmlformats.org/officeDocument/2006/relationships/slide" Target="slides/slide4.xml"/><Relationship Id="rId32" Type="http://schemas.openxmlformats.org/officeDocument/2006/relationships/font" Target="fonts/Rubik-regular.fntdata"/><Relationship Id="rId13" Type="http://schemas.openxmlformats.org/officeDocument/2006/relationships/slide" Target="slides/slide7.xml"/><Relationship Id="rId35" Type="http://schemas.openxmlformats.org/officeDocument/2006/relationships/font" Target="fonts/Rubik-boldItalic.fntdata"/><Relationship Id="rId12" Type="http://schemas.openxmlformats.org/officeDocument/2006/relationships/slide" Target="slides/slide6.xml"/><Relationship Id="rId34" Type="http://schemas.openxmlformats.org/officeDocument/2006/relationships/font" Target="fonts/Rubik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b804d0c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b804d0c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69c0f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69c0f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0669c0f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40669c0f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0f5d098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40f5d09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0b1851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40b1851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40e7c3b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40e7c3b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40e7c3b2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40e7c3b2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0e7c3b2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40e7c3b2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40e7c3b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40e7c3b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corrido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805750" y="1934075"/>
            <a:ext cx="8303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Renan Pinheiro</a:t>
            </a:r>
            <a:endParaRPr sz="6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Case BI</a:t>
            </a:r>
            <a:endParaRPr sz="6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1975" y="1770450"/>
            <a:ext cx="3110050" cy="13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 rot="-5400000">
            <a:off x="-103962" y="2319700"/>
            <a:ext cx="1226100" cy="180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700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(Maio)</a:t>
            </a:r>
            <a:endParaRPr b="1" sz="700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62" name="Google Shape;62;p15"/>
          <p:cNvGraphicFramePr/>
          <p:nvPr/>
        </p:nvGraphicFramePr>
        <p:xfrm>
          <a:off x="662163" y="176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{52ECC0C7-4B2A-4415-8E23-A15063C48FF8}</a:tableStyleId>
              </a:tblPr>
              <a:tblGrid>
                <a:gridCol w="1148975"/>
                <a:gridCol w="987300"/>
                <a:gridCol w="968675"/>
                <a:gridCol w="1079175"/>
              </a:tblGrid>
              <a:tr h="36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Média Semanal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Δ</a:t>
                      </a:r>
                      <a:endParaRPr b="1" sz="8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1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Pedidos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12,4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12,5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5,8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5,8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-0,9%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Ganho por SH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R$19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R$19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+0,2%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15"/>
          <p:cNvSpPr txBox="1"/>
          <p:nvPr/>
        </p:nvSpPr>
        <p:spPr>
          <a:xfrm>
            <a:off x="6419817" y="601286"/>
            <a:ext cx="2176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R$175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cada 50 pedidos, teto de R$1100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47687" y="601275"/>
            <a:ext cx="2523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35,8k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Drivers na base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337594" y="601286"/>
            <a:ext cx="2633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semanas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baseline | 4 Piloto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176550" y="11681"/>
            <a:ext cx="658500" cy="68700"/>
          </a:xfrm>
          <a:prstGeom prst="rect">
            <a:avLst/>
          </a:prstGeom>
          <a:solidFill>
            <a:srgbClr val="E81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76550" y="121409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13C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E811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 </a:t>
            </a:r>
            <a:r>
              <a:rPr i="0" lang="pt-BR" sz="1300" u="none" cap="none" strike="noStrike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i="0" lang="pt-BR" sz="1300" u="none" cap="none" strike="noStrike">
                <a:solidFill>
                  <a:srgbClr val="CC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</a:t>
            </a:r>
            <a:r>
              <a:rPr i="0" lang="pt-BR" sz="1300" u="none" cap="none" strike="noStrike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BR" sz="1300">
                <a:solidFill>
                  <a:srgbClr val="E0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Introdução ao problema (Slide complementar)</a:t>
            </a:r>
            <a:endParaRPr i="0" sz="1300" u="none" cap="none" strike="noStrike">
              <a:solidFill>
                <a:srgbClr val="E0666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72188" y="1388050"/>
            <a:ext cx="20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grupos são comparáveis?</a:t>
            </a:r>
            <a:endParaRPr b="1" sz="1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8355100" y="1928101"/>
            <a:ext cx="416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i="0" lang="pt-BR" sz="106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14.339  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355100" y="2274036"/>
            <a:ext cx="416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i="0" lang="pt-BR" sz="106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14.339  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056970" y="2587053"/>
            <a:ext cx="41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lang="pt-BR" sz="1064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7.168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86400" y="3591276"/>
            <a:ext cx="82296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042463" y="1477938"/>
            <a:ext cx="20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Composição da base</a:t>
            </a:r>
            <a:endParaRPr b="1" sz="1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64000" y="3640475"/>
            <a:ext cx="8076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80% da base disponibilizada será considerada na análise e tomada de decisão. Os 20% restantes correspondem a drivers que não estão alocados nos grupos  &gt; Os grupos de teste e controle são comparáveis e possuem relevância estatística, com a mesma quantidade de drivers e comportamentos semelhantes no baseline.</a:t>
            </a:r>
            <a:endParaRPr b="1"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86388" y="3475000"/>
            <a:ext cx="17037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5" title="Group 2147204018.png"/>
          <p:cNvPicPr preferRelativeResize="0"/>
          <p:nvPr/>
        </p:nvPicPr>
        <p:blipFill rotWithShape="1">
          <a:blip r:embed="rId5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176550" y="11681"/>
            <a:ext cx="658500" cy="68700"/>
          </a:xfrm>
          <a:prstGeom prst="rect">
            <a:avLst/>
          </a:prstGeom>
          <a:solidFill>
            <a:srgbClr val="E81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6448825" y="413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257150"/>
                <a:gridCol w="304850"/>
                <a:gridCol w="257150"/>
                <a:gridCol w="428750"/>
              </a:tblGrid>
              <a:tr h="10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Controle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83" name="Google Shape;83;p16"/>
          <p:cNvSpPr/>
          <p:nvPr/>
        </p:nvSpPr>
        <p:spPr>
          <a:xfrm>
            <a:off x="385141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Pedidos/Driver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85151" y="1018844"/>
            <a:ext cx="2514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Nas 4 semanas de maio(Baseline) as curvas ficam próximas, entre 12,2 e 12,6. Na virada de junho(piloto) o teste salta e se mantém no novo patamar até o fim.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09450" y="3194757"/>
            <a:ext cx="251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275" lIns="101275" spcFirstLastPara="1" rIns="101275" wrap="square" tIns="101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Estável (+0%)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+28% -&gt; +3,4 pdds/driver</a:t>
            </a:r>
            <a:endParaRPr b="1" sz="600">
              <a:solidFill>
                <a:srgbClr val="99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314528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311776" y="963794"/>
            <a:ext cx="2514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O sh/driver aumenta em um ritmo similar ao de pedidos (+23% vs +28%), com produtividade estável (2,16 → 2,23 pedidos por sh). ~87% do ganho veio do sh ofertado, não de mais eficiência. 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238838" y="3194757"/>
            <a:ext cx="251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275" lIns="101275" spcFirstLastPara="1" rIns="101275" wrap="square" tIns="101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Estável (+0%)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+24% -&gt; +1,4 horas/driver</a:t>
            </a:r>
            <a:endParaRPr b="1" sz="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65550" y="68132"/>
            <a:ext cx="3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700"/>
              <a:buFont typeface="Montserrat"/>
              <a:buNone/>
            </a:pPr>
            <a:r>
              <a:t/>
            </a:r>
            <a:endParaRPr>
              <a:solidFill>
                <a:srgbClr val="E400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65550" y="3753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teste melhorou a performance do grupo tratado? Quais foram os gaps nos principais indicadores?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243941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Ganho por hora/Driver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243889" y="963794"/>
            <a:ext cx="2514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O teste opera em R$23,5 por hora contra R$18,8 do controle, que fica parado nas oito semanas. O gap abre no começo do piloto e se sustenta, mas encolhe nas duas últimas semanas: o teto de R$1.100 trava os pagamentos de quem já acumulou os blocos, e o ganho por hora recua de R$24,9 para R$22,7.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93" name="Google Shape;93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38" y="1800926"/>
            <a:ext cx="2422399" cy="135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287" y="1671700"/>
            <a:ext cx="2616876" cy="149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7687" y="1675025"/>
            <a:ext cx="2616876" cy="14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69100" y="64200"/>
            <a:ext cx="565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811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 </a:t>
            </a:r>
            <a:r>
              <a:rPr lang="pt-BR" sz="1300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BR" sz="1300">
                <a:solidFill>
                  <a:srgbClr val="CC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</a:t>
            </a:r>
            <a:r>
              <a:rPr lang="pt-BR" sz="1300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pt-BR" sz="1300">
                <a:solidFill>
                  <a:srgbClr val="E0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Efeito na performance dos grupos</a:t>
            </a:r>
            <a:endParaRPr b="1" sz="1300">
              <a:solidFill>
                <a:srgbClr val="E8113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97" name="Google Shape;97;p16" title="Group 2147204018.png"/>
          <p:cNvPicPr preferRelativeResize="0"/>
          <p:nvPr/>
        </p:nvPicPr>
        <p:blipFill rotWithShape="1">
          <a:blip r:embed="rId7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98" name="Google Shape;98;p16"/>
          <p:cNvCxnSpPr/>
          <p:nvPr/>
        </p:nvCxnSpPr>
        <p:spPr>
          <a:xfrm>
            <a:off x="164040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/>
          <p:nvPr/>
        </p:nvCxnSpPr>
        <p:spPr>
          <a:xfrm>
            <a:off x="465950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756735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5984850" y="320225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-2% -&gt; -R$0,3/driver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+23% -&gt; +R$4,4/driver</a:t>
            </a:r>
            <a:endParaRPr b="1" sz="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09463" y="3764350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90166" y="38654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O piloto gerou volume real:</a:t>
            </a:r>
            <a:r>
              <a:rPr b="1"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+27,6% de pedidos/driver ; +24% de Supply/driver e +23% de Ganho/SH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- O efeito foi imediato e se sustentou até o final do teste. A tendência era o ganho/hora continuar nos mesmos patamares se o programa não limitasse um teto de R$1.100 por driver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09450" y="3648075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Sustentação semanal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42313" y="451379"/>
            <a:ext cx="5943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1" i="0" lang="pt-BR" sz="1050" u="none" cap="none" strike="noStrik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cada semana, o driver entregou mais </a:t>
            </a:r>
            <a:r>
              <a:rPr b="1" i="0" lang="pt-BR" sz="1050" u="none" cap="none" strike="noStrik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 menos q</a:t>
            </a:r>
            <a:r>
              <a:rPr b="1" lang="pt-BR" sz="1050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ue no baseline?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532875" y="526560"/>
            <a:ext cx="3200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1" i="0" lang="pt-BR" sz="1000" u="none" cap="none" strike="noStrike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acima do eixo: aumentou   ·   abaixo: caiu</a:t>
            </a:r>
            <a:endParaRPr b="1" i="0" sz="1000" u="none" cap="none" strike="noStrike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109728" y="1078992"/>
            <a:ext cx="567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50"/>
              <a:buFont typeface="Arial"/>
              <a:buNone/>
            </a:pPr>
            <a:r>
              <a:rPr b="1" i="0" lang="pt-BR" sz="950" u="none" cap="none" strike="noStrike">
                <a:solidFill>
                  <a:srgbClr val="8A8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Controle</a:t>
            </a:r>
            <a:endParaRPr i="0" sz="9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834847" y="1250099"/>
            <a:ext cx="713100" cy="3957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834847" y="1282103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846174" y="1242441"/>
            <a:ext cx="713100" cy="4035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1846174" y="1274445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857500" y="1245756"/>
            <a:ext cx="713100" cy="4002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2857500" y="1277760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868826" y="1260158"/>
            <a:ext cx="713100" cy="3858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3868826" y="1292162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880153" y="1209408"/>
            <a:ext cx="713100" cy="4365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880153" y="1241412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891479" y="1226096"/>
            <a:ext cx="713100" cy="4197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891479" y="1258100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902806" y="1216609"/>
            <a:ext cx="713100" cy="4293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902806" y="1248613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914132" y="1237640"/>
            <a:ext cx="713100" cy="4083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7914132" y="1269644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834847" y="1645920"/>
            <a:ext cx="713100" cy="4839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34847" y="1946986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846174" y="1645920"/>
            <a:ext cx="713100" cy="492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846174" y="1955101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857500" y="1645920"/>
            <a:ext cx="713100" cy="4986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2857500" y="1961731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68826" y="1645920"/>
            <a:ext cx="713100" cy="5055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868826" y="1968475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880153" y="1645920"/>
            <a:ext cx="713100" cy="52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880153" y="1984248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891479" y="1645920"/>
            <a:ext cx="713100" cy="5352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891479" y="1998193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47%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902806" y="1645920"/>
            <a:ext cx="713100" cy="5313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902806" y="1994306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914132" y="1645920"/>
            <a:ext cx="713100" cy="5532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914132" y="2016366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6E6E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46" name="Google Shape;146;p17"/>
          <p:cNvCxnSpPr/>
          <p:nvPr/>
        </p:nvCxnSpPr>
        <p:spPr>
          <a:xfrm>
            <a:off x="658368" y="1645920"/>
            <a:ext cx="8028300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 txBox="1"/>
          <p:nvPr/>
        </p:nvSpPr>
        <p:spPr>
          <a:xfrm>
            <a:off x="109728" y="2505456"/>
            <a:ext cx="567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1050"/>
              <a:buFont typeface="Arial"/>
              <a:buNone/>
            </a:pPr>
            <a:r>
              <a:rPr b="1" i="0" lang="pt-BR" sz="105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Teste</a:t>
            </a:r>
            <a:endParaRPr i="0" sz="10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834847" y="2684793"/>
            <a:ext cx="713100" cy="3876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34847" y="2716797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846174" y="2650388"/>
            <a:ext cx="713100" cy="4221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846174" y="2682392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57500" y="2674849"/>
            <a:ext cx="713100" cy="3975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857500" y="2706853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868826" y="2668562"/>
            <a:ext cx="713100" cy="4038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868826" y="2700566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880153" y="2428418"/>
            <a:ext cx="713100" cy="6441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880153" y="2460422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891479" y="2436533"/>
            <a:ext cx="713100" cy="6360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891479" y="2468537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902806" y="2425103"/>
            <a:ext cx="713100" cy="6474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902806" y="2457107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57%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914132" y="2433676"/>
            <a:ext cx="713100" cy="6387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914132" y="2465680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834847" y="3072384"/>
            <a:ext cx="713100" cy="5019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34847" y="3391395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846174" y="3072384"/>
            <a:ext cx="713100" cy="4893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846174" y="3378937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857500" y="3072384"/>
            <a:ext cx="713100" cy="4947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2857500" y="3384194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868826" y="3072384"/>
            <a:ext cx="713100" cy="4995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868826" y="3388995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44%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880153" y="3072384"/>
            <a:ext cx="713100" cy="3324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880153" y="3222003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29%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891479" y="3072384"/>
            <a:ext cx="713100" cy="3228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91479" y="3212401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902806" y="3072384"/>
            <a:ext cx="713100" cy="3240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902806" y="3213430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914132" y="3072384"/>
            <a:ext cx="713100" cy="317100"/>
          </a:xfrm>
          <a:prstGeom prst="rect">
            <a:avLst/>
          </a:prstGeom>
          <a:solidFill>
            <a:srgbClr val="EBC6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914132" y="3206687"/>
            <a:ext cx="713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1B32"/>
              </a:buClr>
              <a:buSzPts val="800"/>
              <a:buFont typeface="Calibri"/>
              <a:buNone/>
            </a:pPr>
            <a:r>
              <a:rPr b="1" i="0" lang="pt-BR" sz="8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28%</a:t>
            </a:r>
            <a:endParaRPr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80" name="Google Shape;180;p17"/>
          <p:cNvCxnSpPr/>
          <p:nvPr/>
        </p:nvCxnSpPr>
        <p:spPr>
          <a:xfrm>
            <a:off x="658368" y="3072384"/>
            <a:ext cx="8028300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17"/>
          <p:cNvCxnSpPr/>
          <p:nvPr/>
        </p:nvCxnSpPr>
        <p:spPr>
          <a:xfrm>
            <a:off x="4731106" y="1060704"/>
            <a:ext cx="0" cy="24873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2" name="Google Shape;182;p17"/>
          <p:cNvSpPr txBox="1"/>
          <p:nvPr/>
        </p:nvSpPr>
        <p:spPr>
          <a:xfrm>
            <a:off x="2194560" y="877824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· maio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852160" y="877824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piloto · junho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834847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04/05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1846174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857500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18/05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3868826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25/05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4880153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01/06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5891479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08/06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6902806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15/06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7914132" y="2194560"/>
            <a:ext cx="71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0" lang="pt-BR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22/06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58368" y="3630168"/>
            <a:ext cx="8028300" cy="3108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834847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B3B3B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−2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1846174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B3B3B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2857500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B3B3B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3868826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B3B3B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4880153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1B6B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+35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5891479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1B6B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+37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902806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1B6B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+37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914132" y="3666744"/>
            <a:ext cx="71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200"/>
              <a:buFont typeface="Arial"/>
              <a:buNone/>
            </a:pPr>
            <a:r>
              <a:rPr b="1" i="0" lang="pt-BR" sz="900" u="none" cap="none" strike="noStrike">
                <a:solidFill>
                  <a:srgbClr val="1B6B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+41</a:t>
            </a:r>
            <a:endParaRPr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58368" y="3959352"/>
            <a:ext cx="548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pt-BR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gap teste − controle, em pontos percentuais, do saldo (aumentou − caiu)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57075" y="4193751"/>
            <a:ext cx="1234500" cy="162000"/>
          </a:xfrm>
          <a:prstGeom prst="rect">
            <a:avLst/>
          </a:prstGeom>
          <a:solidFill>
            <a:srgbClr val="7A0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57075" y="4201110"/>
            <a:ext cx="12345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pt-BR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</a:t>
            </a:r>
            <a:r>
              <a:rPr b="1" i="0" lang="pt-BR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</a:t>
            </a:r>
            <a:r>
              <a:rPr b="1" i="0" lang="pt-BR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57075" y="4355643"/>
            <a:ext cx="8229600" cy="529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11650" y="4399070"/>
            <a:ext cx="81207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&gt;No baseline os dois grupos são idênticos: 35% aumentam, 44% caem. Em junho o teste inverte para 56% e 28%, com gap de +35 a +41 pontos que cresce até a última semana. </a:t>
            </a:r>
            <a:endParaRPr b="1"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06" name="Google Shape;206;p17" title="Group 2147204018.png"/>
          <p:cNvPicPr preferRelativeResize="0"/>
          <p:nvPr/>
        </p:nvPicPr>
        <p:blipFill rotWithShape="1">
          <a:blip r:embed="rId4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13" name="Google Shape;213;p18"/>
          <p:cNvGraphicFramePr/>
          <p:nvPr/>
        </p:nvGraphicFramePr>
        <p:xfrm>
          <a:off x="283400" y="2390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755550"/>
                <a:gridCol w="483425"/>
                <a:gridCol w="483425"/>
                <a:gridCol w="548675"/>
                <a:gridCol w="382850"/>
              </a:tblGrid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614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214" name="Google Shape;214;p18"/>
          <p:cNvGraphicFramePr/>
          <p:nvPr/>
        </p:nvGraphicFramePr>
        <p:xfrm>
          <a:off x="3174075" y="238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767475"/>
                <a:gridCol w="491050"/>
                <a:gridCol w="491050"/>
                <a:gridCol w="557325"/>
                <a:gridCol w="382850"/>
              </a:tblGrid>
              <a:tr h="24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11,7k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2,1k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215" name="Google Shape;215;p18"/>
          <p:cNvGraphicFramePr/>
          <p:nvPr/>
        </p:nvGraphicFramePr>
        <p:xfrm>
          <a:off x="6100575" y="238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767475"/>
                <a:gridCol w="491050"/>
                <a:gridCol w="491050"/>
                <a:gridCol w="557325"/>
                <a:gridCol w="382850"/>
              </a:tblGrid>
              <a:tr h="24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Delta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-511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rgbClr val="274E1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+511</a:t>
                      </a:r>
                      <a:endParaRPr b="1" sz="700">
                        <a:solidFill>
                          <a:srgbClr val="274E13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-41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+34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-40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+47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+60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pic>
        <p:nvPicPr>
          <p:cNvPr id="216" name="Google Shape;216;p18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725" y="752363"/>
            <a:ext cx="1588403" cy="14159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335351" y="608825"/>
            <a:ext cx="13500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Ating 50+ Pedidos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2536925" y="743325"/>
            <a:ext cx="58221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Só 16,7% do grupo teste atingiu os 50 pedidos no mês — contra 16,7% do controle</a:t>
            </a:r>
            <a:r>
              <a:rPr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Oito pessoas de diferença em 14.339.</a:t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pergunta que fica: ninguém tentou, ou tentaram e não chegaram? As matrizes abaixo mostram de onde cada entregador saiu e onde parou.</a:t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7311800" y="2900363"/>
            <a:ext cx="6585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335363" y="4244175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16066" y="44096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511 entregadores a mais subiram de faixa. Apenas 4 chegaram aos 50 pedidos. O movimento aconteceu — a conversão, não.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incentivo moveu a base uma faixa acima. O gatilho estava duas faixas acima.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35350" y="4127900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p18" title="Group 2147204018.png"/>
          <p:cNvPicPr preferRelativeResize="0"/>
          <p:nvPr/>
        </p:nvPicPr>
        <p:blipFill rotWithShape="1">
          <a:blip r:embed="rId5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30" name="Google Shape;230;p19" title="Group 2147204018.png"/>
          <p:cNvPicPr preferRelativeResize="0"/>
          <p:nvPr/>
        </p:nvPicPr>
        <p:blipFill rotWithShape="1">
          <a:blip r:embed="rId4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231" name="Google Shape;231;p19"/>
          <p:cNvGraphicFramePr/>
          <p:nvPr/>
        </p:nvGraphicFramePr>
        <p:xfrm>
          <a:off x="176025" y="839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791125"/>
                <a:gridCol w="506225"/>
                <a:gridCol w="506225"/>
                <a:gridCol w="506225"/>
                <a:gridCol w="506225"/>
                <a:gridCol w="506225"/>
                <a:gridCol w="506225"/>
                <a:gridCol w="506225"/>
                <a:gridCol w="5062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%da base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do 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do 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25,8k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37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R$223k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24,5k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R$867k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R$783k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32" name="Google Shape;232;p19"/>
          <p:cNvSpPr txBox="1"/>
          <p:nvPr/>
        </p:nvSpPr>
        <p:spPr>
          <a:xfrm>
            <a:off x="176025" y="4359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teste gerou um SHI de 76,4k horas (+23%) a um custo de R$24,5. Como foi a distribuição entre os grupos?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231450" y="1232700"/>
            <a:ext cx="46899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395200" y="839900"/>
            <a:ext cx="35811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Ouro e diamante são 15% da base e consomem 88% do budget</a:t>
            </a:r>
            <a:r>
              <a:rPr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o que faz sentido, visto que a campanha é direcionada a esse público. No entanto </a:t>
            </a:r>
            <a:r>
              <a:rPr b="1"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regulares representam 37% do SHI de toda a campanha, consumindo apenas 12% do budget.</a:t>
            </a:r>
            <a:endParaRPr b="1" sz="8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408117" y="2157811"/>
            <a:ext cx="2176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drivers do regular atingem o desafio de 50 pedidos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47687" y="2186700"/>
            <a:ext cx="25230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R$9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 o </a:t>
            </a: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Cshi</a:t>
            </a: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regular - o custo mais barato da campanha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3337594" y="2252311"/>
            <a:ext cx="2633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37%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SHI total veio do regular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16751" y="3886475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397453" y="40519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Cshi do regular é baixo porque quase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ninguém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ali recebe o prêmio. 12,2k drivers dividiram R$223K, contra 765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diamante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dividindo R$784K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Não é eficiência de desenho, é ausência de régua para cada grupo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16738" y="3770200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231450" y="3272000"/>
            <a:ext cx="7791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regular responde ao incentivo, mas não é recompensado com o prêmio - Desafio muito distante da mediana do grupo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Recomendação | Grupo Regular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48" name="Google Shape;248;p20"/>
          <p:cNvGraphicFramePr/>
          <p:nvPr/>
        </p:nvGraphicFramePr>
        <p:xfrm>
          <a:off x="613563" y="124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1215900"/>
                <a:gridCol w="778025"/>
                <a:gridCol w="778025"/>
                <a:gridCol w="7780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Desafio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 incr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449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+551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49" name="Google Shape;249;p20"/>
          <p:cNvSpPr txBox="1"/>
          <p:nvPr/>
        </p:nvSpPr>
        <p:spPr>
          <a:xfrm>
            <a:off x="129400" y="394900"/>
            <a:ext cx="784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mediana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dos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drivers do Tier Regular é de 13. O desafio de 50 é 385% do que entregam - mesmo assim,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eles respondem ao incentivo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aphicFrame>
        <p:nvGraphicFramePr>
          <p:cNvPr id="250" name="Google Shape;250;p20"/>
          <p:cNvGraphicFramePr/>
          <p:nvPr/>
        </p:nvGraphicFramePr>
        <p:xfrm>
          <a:off x="4600163" y="124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997325"/>
                <a:gridCol w="638175"/>
                <a:gridCol w="638175"/>
                <a:gridCol w="638175"/>
                <a:gridCol w="638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Degrau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Pedidos/Mês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Prêmio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Alcançam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 incr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Starter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R$70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Bronze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R$110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+551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Prata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R$150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Super</a:t>
                      </a:r>
                      <a:endParaRPr b="1"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R$175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+6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51" name="Google Shape;251;p20"/>
          <p:cNvSpPr txBox="1"/>
          <p:nvPr/>
        </p:nvSpPr>
        <p:spPr>
          <a:xfrm>
            <a:off x="613575" y="922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O problema é alcance, não resposta ao incentivo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52" name="Google Shape;252;p20"/>
          <p:cNvSpPr/>
          <p:nvPr/>
        </p:nvSpPr>
        <p:spPr>
          <a:xfrm rot="5400000">
            <a:off x="3244450" y="1962875"/>
            <a:ext cx="1105200" cy="4461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600175" y="922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A escada proposta (programa impulso)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79050" y="2838225"/>
            <a:ext cx="34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+2,4K pessoas chegam ao patamar de 20 pedidos - O teste move drivers para patamares maiores.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4660838" y="2838225"/>
            <a:ext cx="34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Incentivos ajustados de acordo com a performance dos drivers.</a:t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305601" y="3770113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386303" y="3935587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Programa Impulso direciona incentivos até o patamar de Super -&gt; Driver passa por todos os ‘status’ - quando está como starter -&gt; recebe o incentivo bronze; quando está como bronze, recebe o incentivo de prata e assim por diante.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05588" y="3653838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5" name="Google Shape;265;p21" title="Group 2147204018.png"/>
          <p:cNvPicPr preferRelativeResize="0"/>
          <p:nvPr/>
        </p:nvPicPr>
        <p:blipFill rotWithShape="1">
          <a:blip r:embed="rId4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266" name="Google Shape;266;p21"/>
          <p:cNvGraphicFramePr/>
          <p:nvPr/>
        </p:nvGraphicFramePr>
        <p:xfrm>
          <a:off x="176025" y="839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1384575"/>
                <a:gridCol w="885975"/>
                <a:gridCol w="885975"/>
                <a:gridCol w="885975"/>
                <a:gridCol w="8859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Mediana Maio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Mediana Jun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Já fazia 50+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393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67" name="Google Shape;267;p21"/>
          <p:cNvSpPr txBox="1"/>
          <p:nvPr/>
        </p:nvSpPr>
        <p:spPr>
          <a:xfrm>
            <a:off x="176025" y="4359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 quem o teto de R$1.100 é um alvo?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323151" y="3364738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403853" y="3530212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teto foi definido sem olhar para onde os drivers estão posicionados - a mediana do diamante em Maio ultrapassa o teto proposto pelo desafio, 902 dos 2,4k drivers premiados (37%) o ultrapassam, e a mediana desse grupo faz 404 pedidos.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323138" y="3248463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260700" y="2292625"/>
            <a:ext cx="4894500" cy="38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teto é atingido com 300 pedidos -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mediana do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diamante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em Maio era 308.</a:t>
            </a:r>
            <a:r>
              <a:rPr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 metade deles os seis blocos e os R$1.100 já estariam garantidos sem incentivo.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601325" y="1829550"/>
            <a:ext cx="22674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453100" y="1548950"/>
            <a:ext cx="4155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1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7640" y="1046375"/>
            <a:ext cx="3593810" cy="16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5559225" y="8399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Quem bate o teto - 902 drivers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Recomendação | Diamante e Ouro</a:t>
            </a:r>
            <a:endParaRPr>
              <a:solidFill>
                <a:srgbClr val="E87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282" name="Google Shape;282;p22"/>
          <p:cNvGraphicFramePr/>
          <p:nvPr/>
        </p:nvGraphicFramePr>
        <p:xfrm>
          <a:off x="176025" y="71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916075"/>
                <a:gridCol w="586175"/>
                <a:gridCol w="586175"/>
                <a:gridCol w="586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283" name="Google Shape;283;p22"/>
          <p:cNvGraphicFramePr/>
          <p:nvPr/>
        </p:nvGraphicFramePr>
        <p:xfrm>
          <a:off x="3055225" y="71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916075"/>
                <a:gridCol w="586175"/>
                <a:gridCol w="586175"/>
                <a:gridCol w="586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</a:t>
                      </a: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pdds maio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150-249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250-349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R$42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84" name="Google Shape;284;p22"/>
          <p:cNvSpPr txBox="1"/>
          <p:nvPr/>
        </p:nvSpPr>
        <p:spPr>
          <a:xfrm>
            <a:off x="240575" y="365725"/>
            <a:ext cx="254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Eficiência por tier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3055225" y="365725"/>
            <a:ext cx="254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Dentro do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diamante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por volume em Maio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5962775" y="1022725"/>
            <a:ext cx="2820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Ouro responde mais que o diamante - </a:t>
            </a:r>
            <a:r>
              <a:rPr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25% vs 20% - Com a mediana de 161, </a:t>
            </a: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teto de 300 ainda era um alvo</a:t>
            </a:r>
            <a:endParaRPr b="1" sz="7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diamante, </a:t>
            </a: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resposta cai conforme o volume sobe. </a:t>
            </a:r>
            <a:endParaRPr b="1" sz="7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82400" y="2049325"/>
            <a:ext cx="42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Manter o desafio em 50. Mover o teto para acima da mediana do Diamante</a:t>
            </a:r>
            <a:endParaRPr b="1" sz="900">
              <a:solidFill>
                <a:srgbClr val="CC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3258825" y="1696050"/>
            <a:ext cx="24174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2300575" y="1421300"/>
            <a:ext cx="4323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0" name="Google Shape;290;p22"/>
          <p:cNvGraphicFramePr/>
          <p:nvPr/>
        </p:nvGraphicFramePr>
        <p:xfrm>
          <a:off x="176025" y="2401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{AA3C7FFE-0319-458E-B911-098FE203F7AA}</a:tableStyleId>
              </a:tblPr>
              <a:tblGrid>
                <a:gridCol w="1594750"/>
                <a:gridCol w="1020425"/>
                <a:gridCol w="1020425"/>
                <a:gridCol w="1020425"/>
                <a:gridCol w="10204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Prêmio 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vs.hoje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ainda no teto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</a:t>
                      </a: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(hoje)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R$1,100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R$1,84mi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R$1.400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R$2,04mi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+11%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R$1.750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R$2,14mi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R$2.100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R$2,18mi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+19%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91" name="Google Shape;291;p22"/>
          <p:cNvSpPr txBox="1"/>
          <p:nvPr/>
        </p:nvSpPr>
        <p:spPr>
          <a:xfrm>
            <a:off x="6200262" y="2473425"/>
            <a:ext cx="252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R$198k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 adicional de mover o teto para 400</a:t>
            </a:r>
            <a:endParaRPr sz="6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264626" y="4225038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315003" y="4342087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teto está abaixo da mediana do Diamante — 300 contra 308. Para metade deles, os R$ 1.100 já estavam garantidos antes do mês começar, e a resposta cai para 16% em quem faz 350+.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Subir  o teto para 500/600 envolve limites físicos - Incentivar uma campanha que precisa de 150 pedidos semanais pode não ser interessante.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264613" y="4108763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189725" y="3079275"/>
            <a:ext cx="55683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