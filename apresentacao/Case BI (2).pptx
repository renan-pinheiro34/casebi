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Albert Sans"/>
      <p:regular r:id="rId22"/>
      <p:bold r:id="rId23"/>
      <p:italic r:id="rId24"/>
      <p:boldItalic r:id="rId25"/>
    </p:embeddedFont>
    <p:embeddedFont>
      <p:font typeface="Rubik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EFBE30-22D8-408D-8D8C-3ABD6CB026BA}">
  <a:tblStyle styleId="{B9EFBE30-22D8-408D-8D8C-3ABD6CB026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D69FEA2-0B2E-4018-8418-7E691F5FCB2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AlbertSans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AlbertSans-italic.fntdata"/><Relationship Id="rId23" Type="http://schemas.openxmlformats.org/officeDocument/2006/relationships/font" Target="fonts/Albert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ubik-regular.fntdata"/><Relationship Id="rId25" Type="http://schemas.openxmlformats.org/officeDocument/2006/relationships/font" Target="fonts/AlbertSans-boldItalic.fntdata"/><Relationship Id="rId28" Type="http://schemas.openxmlformats.org/officeDocument/2006/relationships/font" Target="fonts/Rubik-italic.fntdata"/><Relationship Id="rId27" Type="http://schemas.openxmlformats.org/officeDocument/2006/relationships/font" Target="fonts/Rubi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ubik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40669c0f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40669c0f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40669c0f2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40669c0f2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40b1851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40b1851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40e7c3b2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40e7c3b2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40e7c3b2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40e7c3b2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40e7c3b2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40e7c3b2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40e7c3b2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40e7c3b2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corrido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1975" y="1770450"/>
            <a:ext cx="3110050" cy="133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rot="-5400000">
            <a:off x="-103962" y="2319700"/>
            <a:ext cx="1226100" cy="180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700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Baseline (Maio)</a:t>
            </a:r>
            <a:endParaRPr b="1" sz="700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57" name="Google Shape;57;p14"/>
          <p:cNvGraphicFramePr/>
          <p:nvPr/>
        </p:nvGraphicFramePr>
        <p:xfrm>
          <a:off x="662163" y="176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{B9EFBE30-22D8-408D-8D8C-3ABD6CB026BA}</a:tableStyleId>
              </a:tblPr>
              <a:tblGrid>
                <a:gridCol w="1148975"/>
                <a:gridCol w="987300"/>
                <a:gridCol w="968675"/>
                <a:gridCol w="1079175"/>
              </a:tblGrid>
              <a:tr h="36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Média Semanal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Teste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Controle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Δ</a:t>
                      </a:r>
                      <a:endParaRPr b="1" sz="8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11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Pedidos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12,4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12,5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0,5%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5,8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5,8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-0,9%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Ganho por SH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R$19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R$19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+0,2%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8" name="Google Shape;58;p14"/>
          <p:cNvSpPr txBox="1"/>
          <p:nvPr/>
        </p:nvSpPr>
        <p:spPr>
          <a:xfrm>
            <a:off x="6419817" y="601286"/>
            <a:ext cx="2176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R$175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cada 50 pedidos, teto de R$1100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47687" y="601275"/>
            <a:ext cx="25230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35,8k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Drivers na base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337594" y="601286"/>
            <a:ext cx="2633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 semanas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baseline | 4 Piloto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76550" y="11681"/>
            <a:ext cx="658500" cy="68700"/>
          </a:xfrm>
          <a:prstGeom prst="rect">
            <a:avLst/>
          </a:prstGeom>
          <a:solidFill>
            <a:srgbClr val="E81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76550" y="121409"/>
            <a:ext cx="594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113C"/>
              </a:buClr>
              <a:buSzPts val="1300"/>
              <a:buFont typeface="Arial"/>
              <a:buNone/>
            </a:pPr>
            <a:r>
              <a:rPr b="1" lang="pt-BR" sz="1300">
                <a:solidFill>
                  <a:srgbClr val="E811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 </a:t>
            </a:r>
            <a:r>
              <a:rPr i="0" lang="pt-BR" sz="1300" u="none" cap="none" strike="noStrike">
                <a:solidFill>
                  <a:srgbClr val="4A4A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i="0" lang="pt-BR" sz="1300" u="none" cap="none" strike="noStrike">
                <a:solidFill>
                  <a:srgbClr val="CC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 </a:t>
            </a:r>
            <a:r>
              <a:rPr i="0" lang="pt-BR" sz="1300" u="none" cap="none" strike="noStrike">
                <a:solidFill>
                  <a:srgbClr val="4A4A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pt-BR" sz="1300">
                <a:solidFill>
                  <a:srgbClr val="E0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Introdução ao problema (Slide complementar)</a:t>
            </a:r>
            <a:endParaRPr i="0" sz="1300" u="none" cap="none" strike="noStrike">
              <a:solidFill>
                <a:srgbClr val="E0666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72188" y="1388050"/>
            <a:ext cx="201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grupos são comparáveis?</a:t>
            </a:r>
            <a:endParaRPr b="1" sz="1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355100" y="1928101"/>
            <a:ext cx="416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64"/>
              <a:buFont typeface="Calibri"/>
              <a:buNone/>
            </a:pPr>
            <a:r>
              <a:rPr b="1" i="0" lang="pt-BR" sz="106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14.339  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8355100" y="2274036"/>
            <a:ext cx="416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64"/>
              <a:buFont typeface="Calibri"/>
              <a:buNone/>
            </a:pPr>
            <a:r>
              <a:rPr b="1" i="0" lang="pt-BR" sz="106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14.339  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056970" y="2587053"/>
            <a:ext cx="41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64"/>
              <a:buFont typeface="Calibri"/>
              <a:buNone/>
            </a:pPr>
            <a:r>
              <a:rPr b="1" lang="pt-BR" sz="1064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7.168</a:t>
            </a:r>
            <a:endParaRPr b="0" i="0" sz="106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486400" y="3591276"/>
            <a:ext cx="82296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5042463" y="1477938"/>
            <a:ext cx="201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Composição da base</a:t>
            </a:r>
            <a:endParaRPr b="1" sz="1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64000" y="3640475"/>
            <a:ext cx="80766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80% da base disponibilizada será considerada na análise e tomada de decisão. Os 20% restantes correspondem a drivers que não estão alocados nos grupos  &gt; Os grupos de teste e controle são comparáveis e possuem relevância estatística, com a mesma quantidade de drivers e comportamentos semelhantes no baseline.</a:t>
            </a:r>
            <a:endParaRPr b="1"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86388" y="3475000"/>
            <a:ext cx="17037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" name="Google Shape;71;p14" title="Group 2147204018.png"/>
          <p:cNvPicPr preferRelativeResize="0"/>
          <p:nvPr/>
        </p:nvPicPr>
        <p:blipFill rotWithShape="1">
          <a:blip r:embed="rId5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176550" y="11681"/>
            <a:ext cx="658500" cy="68700"/>
          </a:xfrm>
          <a:prstGeom prst="rect">
            <a:avLst/>
          </a:prstGeom>
          <a:solidFill>
            <a:srgbClr val="E81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7" name="Google Shape;77;p15"/>
          <p:cNvGraphicFramePr/>
          <p:nvPr/>
        </p:nvGraphicFramePr>
        <p:xfrm>
          <a:off x="6448825" y="4135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257150"/>
                <a:gridCol w="304850"/>
                <a:gridCol w="257150"/>
                <a:gridCol w="428750"/>
              </a:tblGrid>
              <a:tr h="107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Controle</a:t>
                      </a:r>
                      <a:endParaRPr sz="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sp>
        <p:nvSpPr>
          <p:cNvPr id="78" name="Google Shape;78;p15"/>
          <p:cNvSpPr/>
          <p:nvPr/>
        </p:nvSpPr>
        <p:spPr>
          <a:xfrm>
            <a:off x="385141" y="837044"/>
            <a:ext cx="2514900" cy="181800"/>
          </a:xfrm>
          <a:prstGeom prst="rect">
            <a:avLst/>
          </a:prstGeom>
          <a:solidFill>
            <a:schemeClr val="lt2"/>
          </a:solidFill>
          <a:ln cap="flat" cmpd="sng" w="9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Pedidos/Driver</a:t>
            </a:r>
            <a:endParaRPr b="1" sz="7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85151" y="1018844"/>
            <a:ext cx="2514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2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rPr>
              <a:t>Nas 4 semanas de maio(Baseline) as curvas ficam próximas, entre 12,2 e 12,6. Na virada de junho(piloto) o teste salta e se mantém no novo patamar até o fim.</a:t>
            </a:r>
            <a:endParaRPr b="1" sz="522">
              <a:solidFill>
                <a:srgbClr val="434343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09450" y="3194757"/>
            <a:ext cx="251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275" lIns="101275" spcFirstLastPara="1" rIns="101275" wrap="square" tIns="101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Controle: Estável (+0%)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 |</a:t>
            </a:r>
            <a:r>
              <a:rPr b="1" lang="pt-BR" sz="600">
                <a:solidFill>
                  <a:srgbClr val="999999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Teste: +28% -&gt; +3,4 pdds/driver</a:t>
            </a:r>
            <a:endParaRPr b="1" sz="600">
              <a:solidFill>
                <a:srgbClr val="99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314528" y="837044"/>
            <a:ext cx="2514900" cy="181800"/>
          </a:xfrm>
          <a:prstGeom prst="rect">
            <a:avLst/>
          </a:prstGeom>
          <a:solidFill>
            <a:schemeClr val="lt2"/>
          </a:solidFill>
          <a:ln cap="flat" cmpd="sng" w="9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SH/Driver</a:t>
            </a:r>
            <a:endParaRPr b="1" sz="7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311776" y="963794"/>
            <a:ext cx="2514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2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rPr>
              <a:t>O sh/driver aumenta em um ritmo similar ao de pedidos (+23% vs +28%), com produtividade estável (2,16 → 2,23 pedidos por sh). ~87% do ganho veio do sh ofertado, não de mais eficiência. </a:t>
            </a:r>
            <a:endParaRPr b="1" sz="522">
              <a:solidFill>
                <a:srgbClr val="434343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238838" y="3194757"/>
            <a:ext cx="251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275" lIns="101275" spcFirstLastPara="1" rIns="101275" wrap="square" tIns="101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Controle: Estável (+0%)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 |</a:t>
            </a:r>
            <a:r>
              <a:rPr b="1" lang="pt-BR" sz="600">
                <a:solidFill>
                  <a:srgbClr val="999999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Teste: +24% -&gt; +1,4 horas/driver</a:t>
            </a:r>
            <a:endParaRPr b="1" sz="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165550" y="68132"/>
            <a:ext cx="3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700"/>
              <a:buFont typeface="Montserrat"/>
              <a:buNone/>
            </a:pPr>
            <a:r>
              <a:t/>
            </a:r>
            <a:endParaRPr>
              <a:solidFill>
                <a:srgbClr val="E4002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165550" y="375325"/>
            <a:ext cx="60153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 teste melhorou a performance do grupo tratado? Quais foram os gaps nos principais indicadores?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243941" y="837044"/>
            <a:ext cx="2514900" cy="181800"/>
          </a:xfrm>
          <a:prstGeom prst="rect">
            <a:avLst/>
          </a:prstGeom>
          <a:solidFill>
            <a:schemeClr val="lt2"/>
          </a:solidFill>
          <a:ln cap="flat" cmpd="sng" w="9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Ganho por hora/Driver</a:t>
            </a:r>
            <a:endParaRPr b="1" sz="7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6243889" y="963794"/>
            <a:ext cx="2514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2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rPr>
              <a:t>O teste opera em R$23,5 por hora contra R$18,8 do controle, que fica parado nas oito semanas. O gap abre no começo do piloto e se sustenta, mas encolhe nas duas últimas semanas: o teto de R$1.100 trava os pagamentos de quem já acumulou os blocos, e o ganho por hora recua de R$24,9 para R$22,7.</a:t>
            </a:r>
            <a:endParaRPr b="1" sz="522">
              <a:solidFill>
                <a:srgbClr val="434343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88" name="Google Shape;88;p15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138" y="1800926"/>
            <a:ext cx="2422399" cy="135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8287" y="1671700"/>
            <a:ext cx="2616876" cy="149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7687" y="1675025"/>
            <a:ext cx="2616876" cy="14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69100" y="64200"/>
            <a:ext cx="565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E811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 </a:t>
            </a:r>
            <a:r>
              <a:rPr lang="pt-BR" sz="1300">
                <a:solidFill>
                  <a:srgbClr val="4A4A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pt-BR" sz="1300">
                <a:solidFill>
                  <a:srgbClr val="CC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|</a:t>
            </a:r>
            <a:r>
              <a:rPr lang="pt-BR" sz="1300">
                <a:solidFill>
                  <a:srgbClr val="4A4A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lang="pt-BR" sz="1300">
                <a:solidFill>
                  <a:srgbClr val="E0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Efeito na performance dos grupos</a:t>
            </a:r>
            <a:endParaRPr b="1" sz="1300">
              <a:solidFill>
                <a:srgbClr val="E8113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92" name="Google Shape;92;p15" title="Group 2147204018.png"/>
          <p:cNvPicPr preferRelativeResize="0"/>
          <p:nvPr/>
        </p:nvPicPr>
        <p:blipFill rotWithShape="1">
          <a:blip r:embed="rId7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93" name="Google Shape;93;p15"/>
          <p:cNvCxnSpPr/>
          <p:nvPr/>
        </p:nvCxnSpPr>
        <p:spPr>
          <a:xfrm>
            <a:off x="1640401" y="1885249"/>
            <a:ext cx="300" cy="130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4" name="Google Shape;94;p15"/>
          <p:cNvCxnSpPr/>
          <p:nvPr/>
        </p:nvCxnSpPr>
        <p:spPr>
          <a:xfrm>
            <a:off x="4659501" y="1885249"/>
            <a:ext cx="300" cy="130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5" name="Google Shape;95;p15"/>
          <p:cNvCxnSpPr/>
          <p:nvPr/>
        </p:nvCxnSpPr>
        <p:spPr>
          <a:xfrm>
            <a:off x="7567351" y="1885249"/>
            <a:ext cx="300" cy="130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6" name="Google Shape;96;p15"/>
          <p:cNvSpPr txBox="1"/>
          <p:nvPr/>
        </p:nvSpPr>
        <p:spPr>
          <a:xfrm>
            <a:off x="5984850" y="320225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Controle: -2% -&gt; -R$0,3/driver 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 |</a:t>
            </a:r>
            <a:r>
              <a:rPr b="1" lang="pt-BR" sz="600">
                <a:solidFill>
                  <a:srgbClr val="999999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1" lang="pt-BR" sz="600">
                <a:solidFill>
                  <a:srgbClr val="990000"/>
                </a:solidFill>
                <a:latin typeface="Rubik"/>
                <a:ea typeface="Rubik"/>
                <a:cs typeface="Rubik"/>
                <a:sym typeface="Rubik"/>
              </a:rPr>
              <a:t>Teste: +23% -&gt; +R$4,4/driver</a:t>
            </a:r>
            <a:endParaRPr b="1" sz="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09463" y="3764350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390166" y="3865450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O piloto gerou volume real:</a:t>
            </a:r>
            <a:r>
              <a:rPr b="1"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 +27,6% de pedidos/driver ; +24% de Supply/driver e +23% de Ganho/SH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- O efeito foi imediato e se sustentou até o final do teste. A tendência era o ganho/hora continuar nos mesmos patamares se o programa não limitasse um teto de R$1.100 por driver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309450" y="3648075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Eficiência 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283400" y="2390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755550"/>
                <a:gridCol w="483425"/>
                <a:gridCol w="483425"/>
                <a:gridCol w="548675"/>
                <a:gridCol w="382850"/>
              </a:tblGrid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solidFill>
                            <a:srgbClr val="F4F4F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Teste</a:t>
                      </a:r>
                      <a:endParaRPr b="1" sz="800">
                        <a:solidFill>
                          <a:srgbClr val="F4F4F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faixa_piloto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faixa_baseline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614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graphicFrame>
        <p:nvGraphicFramePr>
          <p:cNvPr id="107" name="Google Shape;107;p16"/>
          <p:cNvGraphicFramePr/>
          <p:nvPr/>
        </p:nvGraphicFramePr>
        <p:xfrm>
          <a:off x="3174075" y="238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767475"/>
                <a:gridCol w="491050"/>
                <a:gridCol w="491050"/>
                <a:gridCol w="557325"/>
                <a:gridCol w="382850"/>
              </a:tblGrid>
              <a:tr h="24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solidFill>
                            <a:srgbClr val="F4F4F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Controle</a:t>
                      </a:r>
                      <a:endParaRPr b="1" sz="800">
                        <a:solidFill>
                          <a:srgbClr val="F4F4F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faixa_piloto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faixa_baseline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11,7k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2,1k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graphicFrame>
        <p:nvGraphicFramePr>
          <p:cNvPr id="108" name="Google Shape;108;p16"/>
          <p:cNvGraphicFramePr/>
          <p:nvPr/>
        </p:nvGraphicFramePr>
        <p:xfrm>
          <a:off x="6100575" y="238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767475"/>
                <a:gridCol w="491050"/>
                <a:gridCol w="491050"/>
                <a:gridCol w="557325"/>
                <a:gridCol w="382850"/>
              </a:tblGrid>
              <a:tr h="24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800">
                          <a:solidFill>
                            <a:srgbClr val="F4F4F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Delta</a:t>
                      </a:r>
                      <a:endParaRPr b="1" sz="800">
                        <a:solidFill>
                          <a:srgbClr val="F4F4F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faixa_piloto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faixa_baseline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&lt;=29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-511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rgbClr val="274E1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+511</a:t>
                      </a:r>
                      <a:endParaRPr b="1" sz="700">
                        <a:solidFill>
                          <a:srgbClr val="274E13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30-49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-41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+34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50-99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-40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+47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-65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+60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pic>
        <p:nvPicPr>
          <p:cNvPr id="109" name="Google Shape;109;p1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725" y="752363"/>
            <a:ext cx="1588403" cy="1415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335351" y="608825"/>
            <a:ext cx="1350000" cy="181800"/>
          </a:xfrm>
          <a:prstGeom prst="rect">
            <a:avLst/>
          </a:prstGeom>
          <a:solidFill>
            <a:schemeClr val="lt2"/>
          </a:solidFill>
          <a:ln cap="flat" cmpd="sng" w="91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00" lIns="87500" spcFirstLastPara="1" rIns="87500" wrap="square" tIns="8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Ating 50+ Pedidos</a:t>
            </a:r>
            <a:endParaRPr b="1" sz="7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2536925" y="743325"/>
            <a:ext cx="58221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9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Só 16,7% do grupo teste atingiu os 50 pedidos no mês — contra 16,7% do controle</a:t>
            </a:r>
            <a:r>
              <a:rPr lang="pt-BR" sz="9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Oito pessoas de diferença em 14.339.</a:t>
            </a:r>
            <a:endParaRPr sz="9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pergunta que fica: ninguém tentou, ou tentaram e não chegaram? As matrizes abaixo mostram de onde cada entregador saiu e onde parou.</a:t>
            </a:r>
            <a:endParaRPr sz="9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7311800" y="2900363"/>
            <a:ext cx="6585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335363" y="4244175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416066" y="4409650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511 entregadores a mais subiram de faixa. Apenas 4 chegaram aos 50 pedidos. O movimento aconteceu — a conversão, não. 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O incentivo moveu a base uma faixa acima. O gatilho estava duas faixas acima. 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35350" y="4127900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Google Shape;116;p16" title="Group 2147204018.png"/>
          <p:cNvPicPr preferRelativeResize="0"/>
          <p:nvPr/>
        </p:nvPicPr>
        <p:blipFill rotWithShape="1">
          <a:blip r:embed="rId5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Eficiência 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3" name="Google Shape;123;p17" title="Group 2147204018.png"/>
          <p:cNvPicPr preferRelativeResize="0"/>
          <p:nvPr/>
        </p:nvPicPr>
        <p:blipFill rotWithShape="1">
          <a:blip r:embed="rId4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aphicFrame>
        <p:nvGraphicFramePr>
          <p:cNvPr id="124" name="Google Shape;124;p17"/>
          <p:cNvGraphicFramePr/>
          <p:nvPr/>
        </p:nvGraphicFramePr>
        <p:xfrm>
          <a:off x="176025" y="839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791125"/>
                <a:gridCol w="506225"/>
                <a:gridCol w="506225"/>
                <a:gridCol w="506225"/>
                <a:gridCol w="506225"/>
                <a:gridCol w="506225"/>
                <a:gridCol w="506225"/>
                <a:gridCol w="506225"/>
                <a:gridCol w="50622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%da base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do 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do Custo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Regular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85,3%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25,8k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37</a:t>
                      </a: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R$223k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Ouro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9,3%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24,5k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35</a:t>
                      </a: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R$867k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46%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R$35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Diamante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765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5,3%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</a:t>
                      </a: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R$783k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42%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R$39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125" name="Google Shape;125;p17"/>
          <p:cNvSpPr txBox="1"/>
          <p:nvPr/>
        </p:nvSpPr>
        <p:spPr>
          <a:xfrm>
            <a:off x="176025" y="435925"/>
            <a:ext cx="60153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 teste gerou um SHI de 76,4k horas (+23%) a um custo de R$24,5. Como foi a distribuição entre os grupos?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31450" y="1232700"/>
            <a:ext cx="46899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395200" y="839900"/>
            <a:ext cx="35811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Ouro e diamante são 15% da base e consomem 88% do budget</a:t>
            </a:r>
            <a:r>
              <a:rPr lang="pt-BR" sz="8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o que faz sentido, visto que a campanha é direcionada a esse público. No entanto </a:t>
            </a:r>
            <a:r>
              <a:rPr b="1" lang="pt-BR" sz="822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regulares representam 37% do SHI de toda a campanha, consumindo apenas 12% do budget.</a:t>
            </a:r>
            <a:endParaRPr b="1" sz="8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2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408117" y="2157811"/>
            <a:ext cx="2176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drivers do regular atingem o desafio de 50 pedidos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47687" y="2186700"/>
            <a:ext cx="25230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R$9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 o </a:t>
            </a: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Cshi</a:t>
            </a: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 regular - o custo mais barato da campanha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3337594" y="2252311"/>
            <a:ext cx="2633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37%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SHI total veio do regular</a:t>
            </a:r>
            <a:endParaRPr sz="10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16751" y="3886475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397453" y="4051950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o Cshi do regular é baixo porque quase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ninguém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 ali recebe o prêmio. 12,2k drivers dividiram R$223K, contra 765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diamante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 dividindo R$784K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Não é eficiência de desenho, é ausência de régua para cada grupo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316738" y="3770200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231450" y="3272000"/>
            <a:ext cx="7791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 regular responde ao incentivo, mas não é recompensado com o prêmio - Desafio muito distante da mediana do grupo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Recomendação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41" name="Google Shape;141;p18"/>
          <p:cNvGraphicFramePr/>
          <p:nvPr/>
        </p:nvGraphicFramePr>
        <p:xfrm>
          <a:off x="613563" y="1245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1215900"/>
                <a:gridCol w="778025"/>
                <a:gridCol w="778025"/>
                <a:gridCol w="77802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Desafio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Teste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Controle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 incr</a:t>
                      </a:r>
                      <a:endParaRPr b="1"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1,5k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+2,4k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1,7k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449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+1,4k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+551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+90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142" name="Google Shape;142;p18"/>
          <p:cNvSpPr txBox="1"/>
          <p:nvPr/>
        </p:nvSpPr>
        <p:spPr>
          <a:xfrm>
            <a:off x="129400" y="394900"/>
            <a:ext cx="784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mediana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dos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drivers do Tier Regular é de 13. O desafio de 50 é 385% do que entregam - mesmo assim,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eles respondem ao incentivo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aphicFrame>
        <p:nvGraphicFramePr>
          <p:cNvPr id="143" name="Google Shape;143;p18"/>
          <p:cNvGraphicFramePr/>
          <p:nvPr/>
        </p:nvGraphicFramePr>
        <p:xfrm>
          <a:off x="4600163" y="1245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997325"/>
                <a:gridCol w="638175"/>
                <a:gridCol w="638175"/>
                <a:gridCol w="638175"/>
                <a:gridCol w="63817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Degrau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Pedidos/Mês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Prêmio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Alcançam</a:t>
                      </a:r>
                      <a:endParaRPr b="1"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 incr</a:t>
                      </a:r>
                      <a:endParaRPr b="1"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Starter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R$70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+2,4k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Bronze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R$110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+551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Prata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R$150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+90</a:t>
                      </a:r>
                      <a:endParaRPr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Super</a:t>
                      </a:r>
                      <a:endParaRPr b="1"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</a:t>
                      </a:r>
                      <a:endParaRPr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R$175</a:t>
                      </a:r>
                      <a:endParaRPr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+90</a:t>
                      </a:r>
                      <a:endParaRPr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solidFill>
                            <a:srgbClr val="99999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+6</a:t>
                      </a:r>
                      <a:endParaRPr sz="700">
                        <a:solidFill>
                          <a:srgbClr val="999999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144" name="Google Shape;144;p18"/>
          <p:cNvSpPr txBox="1"/>
          <p:nvPr/>
        </p:nvSpPr>
        <p:spPr>
          <a:xfrm>
            <a:off x="613575" y="922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CC0000"/>
                </a:solidFill>
                <a:latin typeface="Albert Sans"/>
                <a:ea typeface="Albert Sans"/>
                <a:cs typeface="Albert Sans"/>
                <a:sym typeface="Albert Sans"/>
              </a:rPr>
              <a:t>O problema é alcance, não resposta ao incentivo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45" name="Google Shape;145;p18"/>
          <p:cNvSpPr/>
          <p:nvPr/>
        </p:nvSpPr>
        <p:spPr>
          <a:xfrm rot="5400000">
            <a:off x="3244450" y="1962875"/>
            <a:ext cx="1105200" cy="4461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600175" y="9227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CC0000"/>
                </a:solidFill>
                <a:latin typeface="Albert Sans"/>
                <a:ea typeface="Albert Sans"/>
                <a:cs typeface="Albert Sans"/>
                <a:sym typeface="Albert Sans"/>
              </a:rPr>
              <a:t>A escada proposta (programa impulso)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79050" y="2838225"/>
            <a:ext cx="342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+2,4K pessoas chegam ao patamar de 20 pedidos - O teste move drivers para patamares maiores.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4660838" y="2838225"/>
            <a:ext cx="342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Incentivos ajustados de acordo com a performance dos drivers.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305601" y="3770113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386303" y="3935587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Programa Impulso direciona incentivos até o patamar de Super -&gt; Driver passar por todos os ‘status’ - quando está como starter -&gt; recebe o incentivo bronze; quando está como bronze, recebe o incentivo prata e assim por diante.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05588" y="3653838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Eficiência 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58" name="Google Shape;158;p19" title="Group 2147204018.png"/>
          <p:cNvPicPr preferRelativeResize="0"/>
          <p:nvPr/>
        </p:nvPicPr>
        <p:blipFill rotWithShape="1">
          <a:blip r:embed="rId4">
            <a:alphaModFix/>
          </a:blip>
          <a:srcRect b="23305" l="9125" r="15152" t="11957"/>
          <a:stretch/>
        </p:blipFill>
        <p:spPr>
          <a:xfrm>
            <a:off x="8640600" y="4695575"/>
            <a:ext cx="464376" cy="387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aphicFrame>
        <p:nvGraphicFramePr>
          <p:cNvPr id="159" name="Google Shape;159;p19"/>
          <p:cNvGraphicFramePr/>
          <p:nvPr/>
        </p:nvGraphicFramePr>
        <p:xfrm>
          <a:off x="176025" y="839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1384575"/>
                <a:gridCol w="885975"/>
                <a:gridCol w="885975"/>
                <a:gridCol w="885975"/>
                <a:gridCol w="88597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Mediana Maio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Mediana Jun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Já fazia 50+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Regular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17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Ouro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201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Diamante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765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308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393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160" name="Google Shape;160;p19"/>
          <p:cNvSpPr txBox="1"/>
          <p:nvPr/>
        </p:nvSpPr>
        <p:spPr>
          <a:xfrm>
            <a:off x="176025" y="435925"/>
            <a:ext cx="60153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Para quem o teto de R$1.100 é um alvo?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23151" y="3364738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403853" y="3530212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O teto foi definido sem olhar para onde os drivers estão posicionados - a mediana do diamante em Maio ultrapassa o teto proposto pelo desafio, 902 dos 2,4k drivers premiados (37%) o ultrapassam, e a mediana desse grupo faz 404 pedidos.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23138" y="3248463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260700" y="2292625"/>
            <a:ext cx="4894500" cy="38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 teto é atingido com 300 pedidos -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mediana do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diamante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em Maio era 308.</a:t>
            </a:r>
            <a:r>
              <a:rPr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Para metade deles os seis blocos e os R$1.100 já estariam garantidos sem incentivo.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2601325" y="1829550"/>
            <a:ext cx="22674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4453100" y="1548950"/>
            <a:ext cx="4155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9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7640" y="1046375"/>
            <a:ext cx="3593810" cy="16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559225" y="8399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Quem bate o teto - 902 drivers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176013" y="10968"/>
            <a:ext cx="658500" cy="68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89725" y="12070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032E"/>
              </a:buClr>
              <a:buSzPts val="1500"/>
              <a:buFont typeface="Arial"/>
              <a:buNone/>
            </a:pPr>
            <a:r>
              <a:rPr b="1" i="0" lang="pt-BR" u="none" cap="none" strike="noStrike">
                <a:solidFill>
                  <a:srgbClr val="E4032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BI</a:t>
            </a:r>
            <a:r>
              <a:rPr i="0" lang="pt-BR" u="none" cap="none" strike="noStrike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|  </a:t>
            </a:r>
            <a:r>
              <a:rPr lang="pt-BR">
                <a:solidFill>
                  <a:srgbClr val="E87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Recomendação</a:t>
            </a:r>
            <a:endParaRPr i="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176025" y="718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916075"/>
                <a:gridCol w="586175"/>
                <a:gridCol w="586175"/>
                <a:gridCol w="58617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Regular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12,2k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Ouro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1,3k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Diamante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765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20K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/>
          <p:nvPr/>
        </p:nvGraphicFramePr>
        <p:xfrm>
          <a:off x="3055225" y="718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916075"/>
                <a:gridCol w="586175"/>
                <a:gridCol w="586175"/>
                <a:gridCol w="58617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Tier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Drivers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Cshi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150-249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194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26%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R$37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250-349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279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R$35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350+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277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R$42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240575" y="365725"/>
            <a:ext cx="254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Eficiência por tier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055225" y="365725"/>
            <a:ext cx="254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Dentro do 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diamante</a:t>
            </a:r>
            <a:r>
              <a:rPr b="1" lang="pt-BR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por volume em Maio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962775" y="1022725"/>
            <a:ext cx="28206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4750" lIns="94750" spcFirstLastPara="1" rIns="94750" wrap="square" tIns="9475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Ouro responde mais que o diamante - </a:t>
            </a:r>
            <a:r>
              <a:rPr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25% vs 20% - Com a mediana de 161, </a:t>
            </a:r>
            <a:r>
              <a:rPr b="1"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teto de 300 ainda era um alvo</a:t>
            </a:r>
            <a:endParaRPr b="1" sz="7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diamante, </a:t>
            </a:r>
            <a:r>
              <a:rPr b="1" lang="pt-BR" sz="7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resposta cai conforme o volume sobe. </a:t>
            </a:r>
            <a:endParaRPr b="1" sz="7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2400" y="2049325"/>
            <a:ext cx="427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CC0000"/>
                </a:solidFill>
                <a:latin typeface="Albert Sans"/>
                <a:ea typeface="Albert Sans"/>
                <a:cs typeface="Albert Sans"/>
                <a:sym typeface="Albert Sans"/>
              </a:rPr>
              <a:t>Manter o desafio em 50. Mover o teto para acima da mediana do Diamante</a:t>
            </a:r>
            <a:endParaRPr b="1" sz="900">
              <a:solidFill>
                <a:srgbClr val="CC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258825" y="1696050"/>
            <a:ext cx="24174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2300575" y="1421300"/>
            <a:ext cx="4323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176025" y="2401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{3D69FEA2-0B2E-4018-8418-7E691F5FCB2B}</a:tableStyleId>
              </a:tblPr>
              <a:tblGrid>
                <a:gridCol w="1594750"/>
                <a:gridCol w="1020425"/>
                <a:gridCol w="1020425"/>
                <a:gridCol w="1020425"/>
                <a:gridCol w="1020425"/>
              </a:tblGrid>
              <a:tr h="350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Prêmio 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vs.hoje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ainda no teto</a:t>
                      </a:r>
                      <a:endParaRPr b="1" sz="7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solidFill>
                      <a:srgbClr val="D9D9D9"/>
                    </a:solidFill>
                  </a:tcPr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</a:t>
                      </a: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(hoje)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R$1,100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R$1,84mi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902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R$1.400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R$2,04mi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+11%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468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R$1.750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R$2,14mi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+16%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230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  <a:tr h="29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600</a:t>
                      </a:r>
                      <a:endParaRPr b="1"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R$2.100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R$2,18mi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+19%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7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108</a:t>
                      </a:r>
                      <a:endParaRPr sz="7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184" name="Google Shape;184;p20"/>
          <p:cNvSpPr txBox="1"/>
          <p:nvPr/>
        </p:nvSpPr>
        <p:spPr>
          <a:xfrm>
            <a:off x="6200262" y="2473425"/>
            <a:ext cx="252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R$198k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 adicional de mover o teto para 400</a:t>
            </a:r>
            <a:endParaRPr sz="6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200262" y="3113825"/>
            <a:ext cx="25230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50" lIns="87650" spcFirstLastPara="1" rIns="87650" wrap="square" tIns="876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5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1,4h/driver</a:t>
            </a:r>
            <a:endParaRPr b="1" sz="1355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7">
                <a:solidFill>
                  <a:srgbClr val="99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 semana, entre os 468 que ficaram no novo teto é o que basta para manter o CSHI em R$24,5</a:t>
            </a:r>
            <a:endParaRPr sz="667">
              <a:solidFill>
                <a:srgbClr val="99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64626" y="4225038"/>
            <a:ext cx="8675400" cy="762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315003" y="4342087"/>
            <a:ext cx="851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O teto está abaixo da mediana do Diamante — 300 contra 308. Para metade deles, os R$ 1.100 já estavam garantidos antes do mês começar, e a resposta cai para 16% em quem faz 350+.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&gt; Mover o teto para +400 também envolve questões de limites físicos - divulgar uma 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campanha</a:t>
            </a:r>
            <a:r>
              <a:rPr i="1" lang="pt-BR" sz="800">
                <a:latin typeface="Plus Jakarta Sans"/>
                <a:ea typeface="Plus Jakarta Sans"/>
                <a:cs typeface="Plus Jakarta Sans"/>
                <a:sym typeface="Plus Jakarta Sans"/>
              </a:rPr>
              <a:t> de teto 600, pressupõe uma média de 150 pedidos semanais.</a:t>
            </a:r>
            <a:endParaRPr i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64613" y="4108763"/>
            <a:ext cx="1795800" cy="1899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Comentários</a:t>
            </a:r>
            <a:endParaRPr b="1"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89725" y="3079275"/>
            <a:ext cx="5568300" cy="181800"/>
          </a:xfrm>
          <a:prstGeom prst="rect">
            <a:avLst/>
          </a:prstGeom>
          <a:noFill/>
          <a:ln cap="flat" cmpd="sng" w="9525">
            <a:solidFill>
              <a:srgbClr val="6B0E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